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3be4c54c284ebb" /><Relationship Type="http://schemas.openxmlformats.org/officeDocument/2006/relationships/extended-properties" Target="/docProps/app.xml" Id="R23d3ca08b717485d" /><Relationship Type="http://schemas.openxmlformats.org/officeDocument/2006/relationships/officeDocument" Target="/ppt/presentation.xml" Id="Rc2d727c77a0e42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217cfc121042c1"/>
  </p:sldMasterIdLst>
  <p:notesMasterIdLst>
    <p:notesMasterId xmlns:r="http://schemas.openxmlformats.org/officeDocument/2006/relationships" r:id="Rc86c705a4f8645fd"/>
  </p:notesMasterIdLst>
  <p:sldIdLst>
    <p:sldId xmlns:r="http://schemas.openxmlformats.org/officeDocument/2006/relationships" id="256" r:id="Rc30214d63dde46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18946a6b8b4b1c" /><Relationship Type="http://schemas.openxmlformats.org/officeDocument/2006/relationships/slideMaster" Target="/ppt/slideMasters/slideMaster1.xml" Id="Ra9217cfc121042c1" /><Relationship Type="http://schemas.openxmlformats.org/officeDocument/2006/relationships/notesMaster" Target="/ppt/notesMasters/notesMaster1.xml" Id="Rc86c705a4f8645fd" /><Relationship Type="http://schemas.openxmlformats.org/officeDocument/2006/relationships/presProps" Target="/ppt/presProps.xml" Id="R6ed748d8e3974761" /><Relationship Type="http://schemas.openxmlformats.org/officeDocument/2006/relationships/tableStyles" Target="/ppt/tableStyles.xml" Id="Ra06bed1e4d8f4dc0" /><Relationship Type="http://schemas.openxmlformats.org/officeDocument/2006/relationships/slide" Target="/ppt/slides/slide1.xml" Id="Rc30214d63dde46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70e37821e648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3cb9bf99cd45fa" /><Relationship Type="http://schemas.openxmlformats.org/officeDocument/2006/relationships/notesMaster" Target="/ppt/notesMasters/notesMaster1.xml" Id="R661302ed4a2843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ChromaRecover repository: README.md, docs/algorithm.md, docs/roadmap.md, docs/security-model.md, PROJECT_SPEC.md (system architecture, safeguards, and status contract).</a:t>
            </a:r>
          </a:p>
          <a:p xmlns:a="http://schemas.openxmlformats.org/drawingml/2006/main">
            <a:r>
              <a:t>- https://github.com/c-narcissus/paper-framework-figure-studio-pro (semantic-graph and pre-audit workflow inspiration only; no code, images, or text copied; repository exposes no license metadata as of 2026-08-29).</a:t>
            </a:r>
          </a:p>
          <a:p xmlns:a="http://schemas.openxmlformats.org/drawingml/2006/main">
            <a:r>
              <a:t>- https://github.com/Rss3208/Visiomaster (editable-diagram delivery inspiration; MIT license; no code or assets copied).</a:t>
            </a:r>
          </a:p>
          <a:p xmlns:a="http://schemas.openxmlformats.org/drawingml/2006/main">
            <a:r>
              <a:t>- Repository-owned images: examples/digital/demo_input.png, examples/digital/demo_result/evidence_01.png, examples/digital/demo_result/overlay_01.png.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684fd6a0b40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65eac17dc645e2" /><Relationship Type="http://schemas.openxmlformats.org/officeDocument/2006/relationships/slideLayout" Target="/ppt/slideLayouts/slideLayout1.xml" Id="R30713c71de164e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713c71de164e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c8e4558f942bf" /><Relationship Type="http://schemas.openxmlformats.org/officeDocument/2006/relationships/image" Target="/ppt/media/image.png" Id="R501f69efc7e04c1b" /><Relationship Type="http://schemas.openxmlformats.org/officeDocument/2006/relationships/image" Target="/ppt/media/image2.png" Id="R6d3a736d76414731" /><Relationship Type="http://schemas.openxmlformats.org/officeDocument/2006/relationships/image" Target="/ppt/media/image3.png" Id="Rcccbad5390f04a58" /><Relationship Type="http://schemas.openxmlformats.org/officeDocument/2006/relationships/notesSlide" Target="/ppt/notesSlides/notesSlide1.xml" Id="R02cec1042af243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top-accent-field">
            <a:extLst xmlns:a="http://schemas.openxmlformats.org/drawingml/2006/main">
              <a:ext uri="{FF2B5EF4-FFF2-40B4-BE49-F238E27FC236}">
                <a16:creationId xmlns:a16="http://schemas.microsoft.com/office/drawing/2014/main" id="{39EFD740-C907-497B-AF12-C25EE75B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345995"/>
              </a:gs>
              <a:gs pos="31000">
                <a:srgbClr val="2A9D8F"/>
              </a:gs>
              <a:gs pos="63000">
                <a:srgbClr val="E9C46A"/>
              </a:gs>
              <a:gs pos="100000">
                <a:srgbClr val="C94C4C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4C2F605-2CCA-4324-A7F3-05F57273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486581"/>
                </a:solidFill>
              </a:defRPr>
            </a:pPr>
            <a:r>
              <a:rPr sz="900" b="1" spc="1">
                <a:solidFill>
                  <a:srgbClr val="486581"/>
                </a:solidFill>
              </a:rPr>
              <a:t>CHROMARECOVER · RESEARCH ARCHITECTURE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D510D2-BCDB-49F8-9F76-39E80804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Evidence first. Semantics last.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E852DDDE-24F3-46EE-ADED-86C1ECD1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19175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86581"/>
                </a:solidFill>
              </a:defRPr>
            </a:pPr>
            <a:r>
              <a:rPr sz="1275">
                <a:solidFill>
                  <a:srgbClr val="486581"/>
                </a:solidFill>
              </a:rPr>
              <a:t>A local-first pipeline that preserves observations, tests competing masks, and abstains before it guesses.</a:t>
            </a:r>
          </a:p>
        </p:txBody>
      </p:sp>
      <p:sp>
        <p:nvSpPr>
          <p:cNvPr id="5" name="scope">
            <a:extLst xmlns:a="http://schemas.openxmlformats.org/drawingml/2006/main">
              <a:ext uri="{FF2B5EF4-FFF2-40B4-BE49-F238E27FC236}">
                <a16:creationId xmlns:a16="http://schemas.microsoft.com/office/drawing/2014/main" id="{D50087ED-3A19-445A-9AFA-D75DEFE5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14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A9D8F"/>
                </a:solidFill>
              </a:defRPr>
            </a:pPr>
            <a:r>
              <a:rPr sz="975" b="1">
                <a:solidFill>
                  <a:srgbClr val="2A9D8F"/>
                </a:solidFill>
              </a:rPr>
              <a:t>DIGITAL  ·  CAMERA  ·  BURST</a:t>
            </a:r>
          </a:p>
        </p:txBody>
      </p:sp>
      <p:sp>
        <p:nvSpPr>
          <p:cNvPr id="6" name="contract">
            <a:extLst xmlns:a="http://schemas.openxmlformats.org/drawingml/2006/main">
              <a:ext uri="{FF2B5EF4-FFF2-40B4-BE49-F238E27FC236}">
                <a16:creationId xmlns:a16="http://schemas.microsoft.com/office/drawing/2014/main" id="{A2BE815D-167E-4D15-AA25-31CD47FC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790575"/>
            <a:ext cx="3248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27D98"/>
                </a:solidFill>
              </a:defRPr>
            </a:pPr>
            <a:r>
              <a:rPr sz="975">
                <a:solidFill>
                  <a:srgbClr val="627D98"/>
                </a:solidFill>
              </a:rPr>
              <a:t>mask-first / top-k / explainable / willing to abstain</a:t>
            </a:r>
          </a:p>
        </p:txBody>
      </p:sp>
      <p:sp>
        <p:nvSpPr>
          <p:cNvPr id="7" name="observe-anchor">
            <a:extLst xmlns:a="http://schemas.openxmlformats.org/drawingml/2006/main">
              <a:ext uri="{FF2B5EF4-FFF2-40B4-BE49-F238E27FC236}">
                <a16:creationId xmlns:a16="http://schemas.microsoft.com/office/drawing/2014/main" id="{C87AD8CB-933D-4E94-A1D8-E3896DBD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20002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normalize-anchor">
            <a:extLst xmlns:a="http://schemas.openxmlformats.org/drawingml/2006/main">
              <a:ext uri="{FF2B5EF4-FFF2-40B4-BE49-F238E27FC236}">
                <a16:creationId xmlns:a16="http://schemas.microsoft.com/office/drawing/2014/main" id="{5EA4590F-9BCD-4471-94F8-AE0D9024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43050"/>
            <a:ext cx="209550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propose-anchor">
            <a:extLst xmlns:a="http://schemas.openxmlformats.org/drawingml/2006/main">
              <a:ext uri="{FF2B5EF4-FFF2-40B4-BE49-F238E27FC236}">
                <a16:creationId xmlns:a16="http://schemas.microsoft.com/office/drawing/2014/main" id="{E83F07D9-8184-4240-AE7F-33653D1F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543050"/>
            <a:ext cx="23812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decide-anchor">
            <a:extLst xmlns:a="http://schemas.openxmlformats.org/drawingml/2006/main">
              <a:ext uri="{FF2B5EF4-FFF2-40B4-BE49-F238E27FC236}">
                <a16:creationId xmlns:a16="http://schemas.microsoft.com/office/drawing/2014/main" id="{E3FF8262-CB8E-498D-9E2E-8165A849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43050"/>
            <a:ext cx="20383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xplain-anchor">
            <a:extLst xmlns:a="http://schemas.openxmlformats.org/drawingml/2006/main">
              <a:ext uri="{FF2B5EF4-FFF2-40B4-BE49-F238E27FC236}">
                <a16:creationId xmlns:a16="http://schemas.microsoft.com/office/drawing/2014/main" id="{01C96F6C-5B87-4E18-A211-2C4F6ABF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543050"/>
            <a:ext cx="15430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cxnSp>
        <p:nvCxnSpPr>
          <p:cNvPr id="9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33650" y="29527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29AB1"/>
            </a:solidFill>
            <a:prstDash val="solid"/>
            <a:tailEnd type="triangle" w="med" len="med"/>
          </a:ln>
        </p:spPr>
      </p:cxnSp>
      <p:cxnSp>
        <p:nvCxnSpPr>
          <p:cNvPr id="9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95850" y="29527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29AB1"/>
            </a:solidFill>
            <a:prstDash val="solid"/>
            <a:tailEnd type="triangle" w="med" len="med"/>
          </a:ln>
        </p:spPr>
      </p:cxnSp>
      <p:cxnSp>
        <p:nvCxnSpPr>
          <p:cNvPr id="10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43800" y="29527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29AB1"/>
            </a:solidFill>
            <a:prstDash val="solid"/>
            <a:tailEnd type="triangle" w="med" len="med"/>
          </a:ln>
        </p:spPr>
      </p:cxnSp>
      <p:cxnSp>
        <p:nvCxnSpPr>
          <p:cNvPr id="10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848850" y="29527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829AB1"/>
            </a:solidFill>
            <a:prstDash val="solid"/>
            <a:tailEnd type="triangle" w="med" len="med"/>
          </a:ln>
        </p:spPr>
      </p:cxnSp>
      <p:sp>
        <p:nvSpPr>
          <p:cNvPr id="16" name="observe-surface">
            <a:extLst xmlns:a="http://schemas.openxmlformats.org/drawingml/2006/main">
              <a:ext uri="{FF2B5EF4-FFF2-40B4-BE49-F238E27FC236}">
                <a16:creationId xmlns:a16="http://schemas.microsoft.com/office/drawing/2014/main" id="{071B144D-1B88-449E-A5B5-1A5CB94D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2000250" cy="28194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11906">
            <a:solidFill>
              <a:srgbClr val="B8CAE2"/>
            </a:solidFill>
            <a:prstDash val="solid"/>
          </a:ln>
        </p:spPr>
      </p:sp>
      <p:sp>
        <p:nvSpPr>
          <p:cNvPr id="17" name="observe-number">
            <a:extLst xmlns:a="http://schemas.openxmlformats.org/drawingml/2006/main">
              <a:ext uri="{FF2B5EF4-FFF2-40B4-BE49-F238E27FC236}">
                <a16:creationId xmlns:a16="http://schemas.microsoft.com/office/drawing/2014/main" id="{DBB4C5F5-F85C-4F01-97F7-950BF678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995"/>
          </a:solidFill>
          <a:ln xmlns:a="http://schemas.openxmlformats.org/drawingml/2006/main" w="0">
            <a:solidFill>
              <a:srgbClr val="34599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observe-title">
            <a:extLst xmlns:a="http://schemas.openxmlformats.org/drawingml/2006/main">
              <a:ext uri="{FF2B5EF4-FFF2-40B4-BE49-F238E27FC236}">
                <a16:creationId xmlns:a16="http://schemas.microsoft.com/office/drawing/2014/main" id="{D2A4C537-27BC-4E59-A407-811219AA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85925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Safe input</a:t>
            </a:r>
          </a:p>
        </p:txBody>
      </p:sp>
      <p:sp>
        <p:nvSpPr>
          <p:cNvPr id="19" name="normalize-surface">
            <a:extLst xmlns:a="http://schemas.openxmlformats.org/drawingml/2006/main">
              <a:ext uri="{FF2B5EF4-FFF2-40B4-BE49-F238E27FC236}">
                <a16:creationId xmlns:a16="http://schemas.microsoft.com/office/drawing/2014/main" id="{2AE7900E-941D-443E-B1F2-7F348F3E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543050"/>
            <a:ext cx="2095500" cy="2819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11906">
            <a:solidFill>
              <a:srgbClr val="B9DCD4"/>
            </a:solidFill>
            <a:prstDash val="solid"/>
          </a:ln>
        </p:spPr>
      </p:sp>
      <p:sp>
        <p:nvSpPr>
          <p:cNvPr id="20" name="normalize-number">
            <a:extLst xmlns:a="http://schemas.openxmlformats.org/drawingml/2006/main">
              <a:ext uri="{FF2B5EF4-FFF2-40B4-BE49-F238E27FC236}">
                <a16:creationId xmlns:a16="http://schemas.microsoft.com/office/drawing/2014/main" id="{619810A0-7827-4C7D-B9A3-3C104B26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normalize-title">
            <a:extLst xmlns:a="http://schemas.openxmlformats.org/drawingml/2006/main">
              <a:ext uri="{FF2B5EF4-FFF2-40B4-BE49-F238E27FC236}">
                <a16:creationId xmlns:a16="http://schemas.microsoft.com/office/drawing/2014/main" id="{A39E4F38-89E5-48A7-B385-2E182348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85925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Capture model</a:t>
            </a:r>
          </a:p>
        </p:txBody>
      </p:sp>
      <p:sp>
        <p:nvSpPr>
          <p:cNvPr id="22" name="propose-surface">
            <a:extLst xmlns:a="http://schemas.openxmlformats.org/drawingml/2006/main">
              <a:ext uri="{FF2B5EF4-FFF2-40B4-BE49-F238E27FC236}">
                <a16:creationId xmlns:a16="http://schemas.microsoft.com/office/drawing/2014/main" id="{C41171FA-6AA9-444E-8F55-74D1EFE4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543050"/>
            <a:ext cx="2381250" cy="2819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0D9"/>
          </a:solidFill>
          <a:ln xmlns:a="http://schemas.openxmlformats.org/drawingml/2006/main" w="11906">
            <a:solidFill>
              <a:srgbClr val="E7CF97"/>
            </a:solidFill>
            <a:prstDash val="solid"/>
          </a:ln>
        </p:spPr>
      </p:sp>
      <p:sp>
        <p:nvSpPr>
          <p:cNvPr id="23" name="propose-number">
            <a:extLst xmlns:a="http://schemas.openxmlformats.org/drawingml/2006/main">
              <a:ext uri="{FF2B5EF4-FFF2-40B4-BE49-F238E27FC236}">
                <a16:creationId xmlns:a16="http://schemas.microsoft.com/office/drawing/2014/main" id="{51F564E9-55E6-4E44-ABC2-AA1B78D0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695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31C"/>
          </a:solidFill>
          <a:ln xmlns:a="http://schemas.openxmlformats.org/drawingml/2006/main" w="0">
            <a:solidFill>
              <a:srgbClr val="B8831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propose-title">
            <a:extLst xmlns:a="http://schemas.openxmlformats.org/drawingml/2006/main">
              <a:ext uri="{FF2B5EF4-FFF2-40B4-BE49-F238E27FC236}">
                <a16:creationId xmlns:a16="http://schemas.microsoft.com/office/drawing/2014/main" id="{8737A25A-A45E-4E11-B90C-E903B6E3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8592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Evidence hypotheses</a:t>
            </a:r>
          </a:p>
        </p:txBody>
      </p:sp>
      <p:sp>
        <p:nvSpPr>
          <p:cNvPr id="25" name="decide-surface">
            <a:extLst xmlns:a="http://schemas.openxmlformats.org/drawingml/2006/main">
              <a:ext uri="{FF2B5EF4-FFF2-40B4-BE49-F238E27FC236}">
                <a16:creationId xmlns:a16="http://schemas.microsoft.com/office/drawing/2014/main" id="{33B0BF39-1EE9-44AA-BAF2-75547041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43050"/>
            <a:ext cx="2038350" cy="2819400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F9E8E5"/>
          </a:solidFill>
          <a:ln xmlns:a="http://schemas.openxmlformats.org/drawingml/2006/main" w="11906">
            <a:solidFill>
              <a:srgbClr val="E4B8B0"/>
            </a:solidFill>
            <a:prstDash val="solid"/>
          </a:ln>
        </p:spPr>
      </p:sp>
      <p:sp>
        <p:nvSpPr>
          <p:cNvPr id="26" name="decide-number">
            <a:extLst xmlns:a="http://schemas.openxmlformats.org/drawingml/2006/main">
              <a:ext uri="{FF2B5EF4-FFF2-40B4-BE49-F238E27FC236}">
                <a16:creationId xmlns:a16="http://schemas.microsoft.com/office/drawing/2014/main" id="{F4CA7C5A-0479-4EF3-9E0A-A61254AB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C4C"/>
          </a:solidFill>
          <a:ln xmlns:a="http://schemas.openxmlformats.org/drawingml/2006/main" w="0">
            <a:solidFill>
              <a:srgbClr val="C94C4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decide-title">
            <a:extLst xmlns:a="http://schemas.openxmlformats.org/drawingml/2006/main">
              <a:ext uri="{FF2B5EF4-FFF2-40B4-BE49-F238E27FC236}">
                <a16:creationId xmlns:a16="http://schemas.microsoft.com/office/drawing/2014/main" id="{E259E00C-909A-4A7B-ACDB-B91316A0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85925"/>
            <a:ext cx="133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Conservative decision</a:t>
            </a:r>
          </a:p>
        </p:txBody>
      </p:sp>
      <p:sp>
        <p:nvSpPr>
          <p:cNvPr id="28" name="explain-surface">
            <a:extLst xmlns:a="http://schemas.openxmlformats.org/drawingml/2006/main">
              <a:ext uri="{FF2B5EF4-FFF2-40B4-BE49-F238E27FC236}">
                <a16:creationId xmlns:a16="http://schemas.microsoft.com/office/drawing/2014/main" id="{1AA23DFD-17DE-4146-A8E0-A5B5E1EB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543050"/>
            <a:ext cx="1543050" cy="2819400"/>
          </a:xfrm>
          <a:prstGeom xmlns:a="http://schemas.openxmlformats.org/drawingml/2006/main" prst="roundRect">
            <a:avLst>
              <a:gd name="adj" fmla="val 12346"/>
            </a:avLst>
          </a:prstGeom>
          <a:solidFill xmlns:a="http://schemas.openxmlformats.org/drawingml/2006/main">
            <a:srgbClr val="EEEAF7"/>
          </a:solidFill>
          <a:ln xmlns:a="http://schemas.openxmlformats.org/drawingml/2006/main" w="11906">
            <a:solidFill>
              <a:srgbClr val="CFC4E5"/>
            </a:solidFill>
            <a:prstDash val="solid"/>
          </a:ln>
        </p:spPr>
      </p:sp>
      <p:sp>
        <p:nvSpPr>
          <p:cNvPr id="29" name="explain-number">
            <a:extLst xmlns:a="http://schemas.openxmlformats.org/drawingml/2006/main">
              <a:ext uri="{FF2B5EF4-FFF2-40B4-BE49-F238E27FC236}">
                <a16:creationId xmlns:a16="http://schemas.microsoft.com/office/drawing/2014/main" id="{2E5C54EF-38AD-41CF-A388-EB0936B7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695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5AA6"/>
          </a:solidFill>
          <a:ln xmlns:a="http://schemas.openxmlformats.org/drawingml/2006/main" w="0">
            <a:solidFill>
              <a:srgbClr val="6E5A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explain-title">
            <a:extLst xmlns:a="http://schemas.openxmlformats.org/drawingml/2006/main">
              <a:ext uri="{FF2B5EF4-FFF2-40B4-BE49-F238E27FC236}">
                <a16:creationId xmlns:a16="http://schemas.microsoft.com/office/drawing/2014/main" id="{B65E7EF5-C9CE-4535-BCE9-2B77956A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685925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Audit trail</a:t>
            </a:r>
          </a:p>
        </p:txBody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f69efc7e04c1b"/>
          <a:srcRect xmlns:a="http://schemas.openxmlformats.org/drawingml/2006/main" l="0" t="18466" r="0" b="184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" y="2238375"/>
            <a:ext cx="1676400" cy="1057275"/>
          </a:xfrm>
          <a:prstGeom xmlns:a="http://schemas.openxmlformats.org/drawingml/2006/main" prst="roundRect">
            <a:avLst>
              <a:gd name="adj" fmla="val 10811"/>
            </a:avLst>
          </a:prstGeom>
        </p:spPr>
      </p:pic>
      <p:sp>
        <p:nvSpPr>
          <p:cNvPr id="32" name="observe-modes">
            <a:extLst xmlns:a="http://schemas.openxmlformats.org/drawingml/2006/main">
              <a:ext uri="{FF2B5EF4-FFF2-40B4-BE49-F238E27FC236}">
                <a16:creationId xmlns:a16="http://schemas.microsoft.com/office/drawing/2014/main" id="{E92E276F-7F22-4125-AF1E-C3BD2604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09775"/>
            <a:ext cx="1676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45995"/>
                </a:solidFill>
              </a:defRPr>
            </a:pPr>
            <a:r>
              <a:rPr sz="1050" b="1">
                <a:solidFill>
                  <a:srgbClr val="345995"/>
                </a:solidFill>
              </a:rPr>
              <a:t>files · arrays · burst</a:t>
            </a:r>
          </a:p>
        </p:txBody>
      </p:sp>
      <p:sp>
        <p:nvSpPr>
          <p:cNvPr id="33" name="observe-limits">
            <a:extLst xmlns:a="http://schemas.openxmlformats.org/drawingml/2006/main">
              <a:ext uri="{FF2B5EF4-FFF2-40B4-BE49-F238E27FC236}">
                <a16:creationId xmlns:a16="http://schemas.microsoft.com/office/drawing/2014/main" id="{BFEDEBAA-F769-4549-8583-28EBBB1D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052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E68"/>
                </a:solidFill>
              </a:defRPr>
            </a:pPr>
            <a:r>
              <a:rPr sz="1200">
                <a:solidFill>
                  <a:srgbClr val="334E68"/>
                </a:solidFill>
              </a:rPr>
              <a:t>100 MiB / 50 MP</a:t>
            </a:r>
          </a:p>
          <a:p xmlns:a="http://schemas.openxmlformats.org/drawingml/2006/main">
            <a:pPr>
              <a:defRPr sz="1200">
                <a:solidFill>
                  <a:srgbClr val="334E68"/>
                </a:solidFill>
              </a:defRPr>
            </a:pPr>
            <a:r>
              <a:rPr sz="1200">
                <a:solidFill>
                  <a:srgbClr val="334E68"/>
                </a:solidFill>
              </a:rPr>
              <a:t>EXIF · ICC · decode checks</a:t>
            </a:r>
          </a:p>
        </p:txBody>
      </p:sp>
      <p:sp>
        <p:nvSpPr>
          <p:cNvPr id="34" name="normalize-label-0">
            <a:extLst xmlns:a="http://schemas.openxmlformats.org/drawingml/2006/main">
              <a:ext uri="{FF2B5EF4-FFF2-40B4-BE49-F238E27FC236}">
                <a16:creationId xmlns:a16="http://schemas.microsoft.com/office/drawing/2014/main" id="{6210C686-2B26-4D9D-B84E-8E3A10FE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574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2A9D8F"/>
                </a:solidFill>
              </a:defRPr>
            </a:pPr>
            <a:r>
              <a:rPr sz="825" b="1" spc="1">
                <a:solidFill>
                  <a:srgbClr val="2A9D8F"/>
                </a:solidFill>
              </a:rPr>
              <a:t>GEOMETRY</a:t>
            </a:r>
          </a:p>
        </p:txBody>
      </p:sp>
      <p:sp>
        <p:nvSpPr>
          <p:cNvPr id="35" name="normalize-value-0">
            <a:extLst xmlns:a="http://schemas.openxmlformats.org/drawingml/2006/main">
              <a:ext uri="{FF2B5EF4-FFF2-40B4-BE49-F238E27FC236}">
                <a16:creationId xmlns:a16="http://schemas.microsoft.com/office/drawing/2014/main" id="{A038A3E3-F9A1-4812-A8D0-AA94AED3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2288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334E68"/>
                </a:solidFill>
              </a:defRPr>
            </a:pPr>
            <a:r>
              <a:rPr sz="1163">
                <a:solidFill>
                  <a:srgbClr val="334E68"/>
                </a:solidFill>
              </a:rPr>
              <a:t>ROI · quadrilateral · curved ribbon</a:t>
            </a:r>
          </a:p>
        </p:txBody>
      </p:sp>
      <p:sp>
        <p:nvSpPr>
          <p:cNvPr id="36" name="normalize-rule-0">
            <a:extLst xmlns:a="http://schemas.openxmlformats.org/drawingml/2006/main">
              <a:ext uri="{FF2B5EF4-FFF2-40B4-BE49-F238E27FC236}">
                <a16:creationId xmlns:a16="http://schemas.microsoft.com/office/drawing/2014/main" id="{DC635688-93F7-45FA-964B-43774C53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05075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E5DF"/>
            </a:solidFill>
            <a:prstDash val="solid"/>
          </a:ln>
        </p:spPr>
      </p:sp>
      <p:sp>
        <p:nvSpPr>
          <p:cNvPr id="37" name="normalize-label-1">
            <a:extLst xmlns:a="http://schemas.openxmlformats.org/drawingml/2006/main">
              <a:ext uri="{FF2B5EF4-FFF2-40B4-BE49-F238E27FC236}">
                <a16:creationId xmlns:a16="http://schemas.microsoft.com/office/drawing/2014/main" id="{EDF06E6C-E9A2-423B-B3FA-2BC8738D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812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2A9D8F"/>
                </a:solidFill>
              </a:defRPr>
            </a:pPr>
            <a:r>
              <a:rPr sz="825" b="1" spc="1">
                <a:solidFill>
                  <a:srgbClr val="2A9D8F"/>
                </a:solidFill>
              </a:rPr>
              <a:t>PHOTOMETRY</a:t>
            </a:r>
          </a:p>
        </p:txBody>
      </p:sp>
      <p:sp>
        <p:nvSpPr>
          <p:cNvPr id="38" name="normalize-value-1">
            <a:extLst xmlns:a="http://schemas.openxmlformats.org/drawingml/2006/main">
              <a:ext uri="{FF2B5EF4-FFF2-40B4-BE49-F238E27FC236}">
                <a16:creationId xmlns:a16="http://schemas.microsoft.com/office/drawing/2014/main" id="{A860CB17-A448-4063-948E-759E7A6B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7527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334E68"/>
                </a:solidFill>
              </a:defRPr>
            </a:pPr>
            <a:r>
              <a:rPr sz="1163">
                <a:solidFill>
                  <a:srgbClr val="334E68"/>
                </a:solidFill>
              </a:rPr>
              <a:t>illumination · color cast · shadow</a:t>
            </a:r>
          </a:p>
        </p:txBody>
      </p:sp>
      <p:sp>
        <p:nvSpPr>
          <p:cNvPr id="39" name="normalize-rule-1">
            <a:extLst xmlns:a="http://schemas.openxmlformats.org/drawingml/2006/main">
              <a:ext uri="{FF2B5EF4-FFF2-40B4-BE49-F238E27FC236}">
                <a16:creationId xmlns:a16="http://schemas.microsoft.com/office/drawing/2014/main" id="{47B90AC6-E835-4460-8B81-FD096571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2895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E5DF"/>
            </a:solidFill>
            <a:prstDash val="solid"/>
          </a:ln>
        </p:spPr>
      </p:sp>
      <p:sp>
        <p:nvSpPr>
          <p:cNvPr id="40" name="normalize-label-2">
            <a:extLst xmlns:a="http://schemas.openxmlformats.org/drawingml/2006/main">
              <a:ext uri="{FF2B5EF4-FFF2-40B4-BE49-F238E27FC236}">
                <a16:creationId xmlns:a16="http://schemas.microsoft.com/office/drawing/2014/main" id="{E771F7EB-067B-4499-B65A-981FD548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051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2A9D8F"/>
                </a:solidFill>
              </a:defRPr>
            </a:pPr>
            <a:r>
              <a:rPr sz="825" b="1" spc="1">
                <a:solidFill>
                  <a:srgbClr val="2A9D8F"/>
                </a:solidFill>
              </a:rPr>
              <a:t>CAPTURE</a:t>
            </a:r>
          </a:p>
        </p:txBody>
      </p:sp>
      <p:sp>
        <p:nvSpPr>
          <p:cNvPr id="41" name="normalize-value-2">
            <a:extLst xmlns:a="http://schemas.openxmlformats.org/drawingml/2006/main">
              <a:ext uri="{FF2B5EF4-FFF2-40B4-BE49-F238E27FC236}">
                <a16:creationId xmlns:a16="http://schemas.microsoft.com/office/drawing/2014/main" id="{C4C09E54-9A7D-4D03-B6B2-7A1DE933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766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334E68"/>
                </a:solidFill>
              </a:defRPr>
            </a:pPr>
            <a:r>
              <a:rPr sz="1163">
                <a:solidFill>
                  <a:srgbClr val="334E68"/>
                </a:solidFill>
              </a:rPr>
              <a:t>glare invalidation · moiré · banding</a:t>
            </a:r>
          </a:p>
        </p:txBody>
      </p:sp>
      <p:sp>
        <p:nvSpPr>
          <p:cNvPr id="42" name="normalize-rule-2">
            <a:extLst xmlns:a="http://schemas.openxmlformats.org/drawingml/2006/main">
              <a:ext uri="{FF2B5EF4-FFF2-40B4-BE49-F238E27FC236}">
                <a16:creationId xmlns:a16="http://schemas.microsoft.com/office/drawing/2014/main" id="{31FB24CE-4364-43A2-8E64-D9324CB3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552825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E5DF"/>
            </a:solidFill>
            <a:prstDash val="solid"/>
          </a:ln>
        </p:spPr>
      </p:sp>
      <p:sp>
        <p:nvSpPr>
          <p:cNvPr id="43" name="normalize-label-3">
            <a:extLst xmlns:a="http://schemas.openxmlformats.org/drawingml/2006/main">
              <a:ext uri="{FF2B5EF4-FFF2-40B4-BE49-F238E27FC236}">
                <a16:creationId xmlns:a16="http://schemas.microsoft.com/office/drawing/2014/main" id="{9257D544-2C32-4CB8-A39A-0535220D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6290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spc="1">
                <a:solidFill>
                  <a:srgbClr val="2A9D8F"/>
                </a:solidFill>
              </a:defRPr>
            </a:pPr>
            <a:r>
              <a:rPr sz="825" b="1" spc="1">
                <a:solidFill>
                  <a:srgbClr val="2A9D8F"/>
                </a:solidFill>
              </a:rPr>
              <a:t>TRACEABILITY</a:t>
            </a:r>
          </a:p>
        </p:txBody>
      </p:sp>
      <p:sp>
        <p:nvSpPr>
          <p:cNvPr id="44" name="normalize-value-3">
            <a:extLst xmlns:a="http://schemas.openxmlformats.org/drawingml/2006/main">
              <a:ext uri="{FF2B5EF4-FFF2-40B4-BE49-F238E27FC236}">
                <a16:creationId xmlns:a16="http://schemas.microsoft.com/office/drawing/2014/main" id="{58030B10-39F3-40A2-99DA-8DA4077E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004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334E68"/>
                </a:solidFill>
              </a:defRPr>
            </a:pPr>
            <a:r>
              <a:rPr sz="1163">
                <a:solidFill>
                  <a:srgbClr val="334E68"/>
                </a:solidFill>
              </a:rPr>
              <a:t>raw + corrected + inverse map</a:t>
            </a:r>
          </a:p>
        </p:txBody>
      </p:sp>
      <p:sp>
        <p:nvSpPr>
          <p:cNvPr id="45" name="proposal-band-0">
            <a:extLst xmlns:a="http://schemas.openxmlformats.org/drawingml/2006/main">
              <a:ext uri="{FF2B5EF4-FFF2-40B4-BE49-F238E27FC236}">
                <a16:creationId xmlns:a16="http://schemas.microsoft.com/office/drawing/2014/main" id="{BDC28E8C-6681-40B0-958C-002038FC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90750"/>
            <a:ext cx="20383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5E5BD"/>
          </a:solidFill>
          <a:ln xmlns:a="http://schemas.openxmlformats.org/drawingml/2006/main" w="11906">
            <a:solidFill>
              <a:srgbClr val="D7B65F"/>
            </a:solidFill>
            <a:prstDash val="solid"/>
          </a:ln>
        </p:spPr>
      </p:sp>
      <p:sp>
        <p:nvSpPr>
          <p:cNvPr id="46" name="proposal-title-0">
            <a:extLst xmlns:a="http://schemas.openxmlformats.org/drawingml/2006/main">
              <a:ext uri="{FF2B5EF4-FFF2-40B4-BE49-F238E27FC236}">
                <a16:creationId xmlns:a16="http://schemas.microsoft.com/office/drawing/2014/main" id="{CF30A61C-6118-48B9-B74E-1A8AD82F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860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4C0A"/>
                </a:solidFill>
              </a:defRPr>
            </a:pPr>
            <a:r>
              <a:rPr sz="1050" b="1">
                <a:solidFill>
                  <a:srgbClr val="6D4C0A"/>
                </a:solidFill>
              </a:rPr>
              <a:t>Pixel cues</a:t>
            </a:r>
          </a:p>
        </p:txBody>
      </p:sp>
      <p:sp>
        <p:nvSpPr>
          <p:cNvPr id="47" name="proposal-body-0">
            <a:extLst xmlns:a="http://schemas.openxmlformats.org/drawingml/2006/main">
              <a:ext uri="{FF2B5EF4-FFF2-40B4-BE49-F238E27FC236}">
                <a16:creationId xmlns:a16="http://schemas.microsoft.com/office/drawing/2014/main" id="{0C85E19A-5C3E-43CA-96B4-2B1148F8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288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A4A2A"/>
                </a:solidFill>
              </a:defRPr>
            </a:pPr>
            <a:r>
              <a:rPr sz="975">
                <a:solidFill>
                  <a:srgbClr val="5A4A2A"/>
                </a:solidFill>
              </a:rPr>
              <a:t>Lab · opponent</a:t>
            </a:r>
          </a:p>
          <a:p xmlns:a="http://schemas.openxmlformats.org/drawingml/2006/main">
            <a:pPr algn="r">
              <a:defRPr sz="975">
                <a:solidFill>
                  <a:srgbClr val="5A4A2A"/>
                </a:solidFill>
              </a:defRPr>
            </a:pPr>
            <a:r>
              <a:rPr sz="975">
                <a:solidFill>
                  <a:srgbClr val="5A4A2A"/>
                </a:solidFill>
              </a:rPr>
              <a:t>local residual</a:t>
            </a:r>
          </a:p>
        </p:txBody>
      </p:sp>
      <p:sp>
        <p:nvSpPr>
          <p:cNvPr id="48" name="proposal-band-1">
            <a:extLst xmlns:a="http://schemas.openxmlformats.org/drawingml/2006/main">
              <a:ext uri="{FF2B5EF4-FFF2-40B4-BE49-F238E27FC236}">
                <a16:creationId xmlns:a16="http://schemas.microsoft.com/office/drawing/2014/main" id="{24EC33C9-A6AB-4A41-98AE-48F12593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05100"/>
            <a:ext cx="20383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3DEAA"/>
          </a:solidFill>
          <a:ln xmlns:a="http://schemas.openxmlformats.org/drawingml/2006/main" w="11906">
            <a:solidFill>
              <a:srgbClr val="D7B65F"/>
            </a:solidFill>
            <a:prstDash val="solid"/>
          </a:ln>
        </p:spPr>
      </p:sp>
      <p:sp>
        <p:nvSpPr>
          <p:cNvPr id="49" name="proposal-title-1">
            <a:extLst xmlns:a="http://schemas.openxmlformats.org/drawingml/2006/main">
              <a:ext uri="{FF2B5EF4-FFF2-40B4-BE49-F238E27FC236}">
                <a16:creationId xmlns:a16="http://schemas.microsoft.com/office/drawing/2014/main" id="{7F9DD556-58F0-4308-8522-BD055FB1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8003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4C0A"/>
                </a:solidFill>
              </a:defRPr>
            </a:pPr>
            <a:r>
              <a:rPr sz="1050" b="1">
                <a:solidFill>
                  <a:srgbClr val="6D4C0A"/>
                </a:solidFill>
              </a:rPr>
              <a:t>Masks</a:t>
            </a:r>
          </a:p>
        </p:txBody>
      </p:sp>
      <p:sp>
        <p:nvSpPr>
          <p:cNvPr id="50" name="proposal-body-1">
            <a:extLst xmlns:a="http://schemas.openxmlformats.org/drawingml/2006/main">
              <a:ext uri="{FF2B5EF4-FFF2-40B4-BE49-F238E27FC236}">
                <a16:creationId xmlns:a16="http://schemas.microsoft.com/office/drawing/2014/main" id="{5302DDFA-FB92-4068-9D20-3E2CB551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7432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A4A2A"/>
                </a:solidFill>
              </a:defRPr>
            </a:pPr>
            <a:r>
              <a:rPr sz="975">
                <a:solidFill>
                  <a:srgbClr val="5A4A2A"/>
                </a:solidFill>
              </a:rPr>
              <a:t>clusters · projections</a:t>
            </a:r>
          </a:p>
          <a:p xmlns:a="http://schemas.openxmlformats.org/drawingml/2006/main">
            <a:pPr algn="r">
              <a:defRPr sz="975">
                <a:solidFill>
                  <a:srgbClr val="5A4A2A"/>
                </a:solidFill>
              </a:defRPr>
            </a:pPr>
            <a:r>
              <a:rPr sz="975">
                <a:solidFill>
                  <a:srgbClr val="5A4A2A"/>
                </a:solidFill>
              </a:rPr>
              <a:t>both polarities</a:t>
            </a:r>
          </a:p>
        </p:txBody>
      </p:sp>
      <p:sp>
        <p:nvSpPr>
          <p:cNvPr id="51" name="proposal-band-2">
            <a:extLst xmlns:a="http://schemas.openxmlformats.org/drawingml/2006/main">
              <a:ext uri="{FF2B5EF4-FFF2-40B4-BE49-F238E27FC236}">
                <a16:creationId xmlns:a16="http://schemas.microsoft.com/office/drawing/2014/main" id="{50862331-6555-42FF-9D3F-5C45D36F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19450"/>
            <a:ext cx="20383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1D594"/>
          </a:solidFill>
          <a:ln xmlns:a="http://schemas.openxmlformats.org/drawingml/2006/main" w="11906">
            <a:solidFill>
              <a:srgbClr val="D7B65F"/>
            </a:solidFill>
            <a:prstDash val="solid"/>
          </a:ln>
        </p:spPr>
      </p:sp>
      <p:sp>
        <p:nvSpPr>
          <p:cNvPr id="52" name="proposal-title-2">
            <a:extLst xmlns:a="http://schemas.openxmlformats.org/drawingml/2006/main">
              <a:ext uri="{FF2B5EF4-FFF2-40B4-BE49-F238E27FC236}">
                <a16:creationId xmlns:a16="http://schemas.microsoft.com/office/drawing/2014/main" id="{4567C203-23F3-4DAC-BC27-F3036351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3147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4C0A"/>
                </a:solidFill>
              </a:defRPr>
            </a:pPr>
            <a:r>
              <a:rPr sz="1050" b="1">
                <a:solidFill>
                  <a:srgbClr val="6D4C0A"/>
                </a:solidFill>
              </a:rPr>
              <a:t>Primitives</a:t>
            </a:r>
          </a:p>
        </p:txBody>
      </p:sp>
      <p:sp>
        <p:nvSpPr>
          <p:cNvPr id="53" name="proposal-body-2">
            <a:extLst xmlns:a="http://schemas.openxmlformats.org/drawingml/2006/main">
              <a:ext uri="{FF2B5EF4-FFF2-40B4-BE49-F238E27FC236}">
                <a16:creationId xmlns:a16="http://schemas.microsoft.com/office/drawing/2014/main" id="{F7FE3C1E-6758-40BB-A8BE-5291087C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575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A4A2A"/>
                </a:solidFill>
              </a:defRPr>
            </a:pPr>
            <a:r>
              <a:rPr sz="975">
                <a:solidFill>
                  <a:srgbClr val="5A4A2A"/>
                </a:solidFill>
              </a:rPr>
              <a:t>contours · graph</a:t>
            </a:r>
          </a:p>
          <a:p xmlns:a="http://schemas.openxmlformats.org/drawingml/2006/main">
            <a:pPr algn="r">
              <a:defRPr sz="975">
                <a:solidFill>
                  <a:srgbClr val="5A4A2A"/>
                </a:solidFill>
              </a:defRPr>
            </a:pPr>
            <a:r>
              <a:rPr sz="975">
                <a:solidFill>
                  <a:srgbClr val="5A4A2A"/>
                </a:solidFill>
              </a:rPr>
              <a:t>tile roles</a:t>
            </a:r>
          </a:p>
        </p:txBody>
      </p:sp>
      <p:sp>
        <p:nvSpPr>
          <p:cNvPr id="54" name="proposal-band-3">
            <a:extLst xmlns:a="http://schemas.openxmlformats.org/drawingml/2006/main">
              <a:ext uri="{FF2B5EF4-FFF2-40B4-BE49-F238E27FC236}">
                <a16:creationId xmlns:a16="http://schemas.microsoft.com/office/drawing/2014/main" id="{0F987185-A883-475C-87D7-E8036980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33800"/>
            <a:ext cx="20383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AC777"/>
          </a:solidFill>
          <a:ln xmlns:a="http://schemas.openxmlformats.org/drawingml/2006/main" w="11906">
            <a:solidFill>
              <a:srgbClr val="D7B65F"/>
            </a:solidFill>
            <a:prstDash val="solid"/>
          </a:ln>
        </p:spPr>
      </p:sp>
      <p:sp>
        <p:nvSpPr>
          <p:cNvPr id="55" name="proposal-title-3">
            <a:extLst xmlns:a="http://schemas.openxmlformats.org/drawingml/2006/main">
              <a:ext uri="{FF2B5EF4-FFF2-40B4-BE49-F238E27FC236}">
                <a16:creationId xmlns:a16="http://schemas.microsoft.com/office/drawing/2014/main" id="{CB61B3F7-22D9-45D0-B6EC-4B18C6A4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82905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D4C0A"/>
                </a:solidFill>
              </a:defRPr>
            </a:pPr>
            <a:r>
              <a:rPr sz="1050" b="1">
                <a:solidFill>
                  <a:srgbClr val="6D4C0A"/>
                </a:solidFill>
              </a:rPr>
              <a:t>Structure</a:t>
            </a:r>
          </a:p>
        </p:txBody>
      </p:sp>
      <p:sp>
        <p:nvSpPr>
          <p:cNvPr id="56" name="proposal-body-3">
            <a:extLst xmlns:a="http://schemas.openxmlformats.org/drawingml/2006/main">
              <a:ext uri="{FF2B5EF4-FFF2-40B4-BE49-F238E27FC236}">
                <a16:creationId xmlns:a16="http://schemas.microsoft.com/office/drawing/2014/main" id="{C242118F-620E-4CB1-A50C-A2056F24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719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A4A2A"/>
                </a:solidFill>
              </a:defRPr>
            </a:pPr>
            <a:r>
              <a:rPr sz="975">
                <a:solidFill>
                  <a:srgbClr val="5A4A2A"/>
                </a:solidFill>
              </a:rPr>
              <a:t>density map</a:t>
            </a:r>
          </a:p>
          <a:p xmlns:a="http://schemas.openxmlformats.org/drawingml/2006/main">
            <a:pPr algn="r">
              <a:defRPr sz="975">
                <a:solidFill>
                  <a:srgbClr val="5A4A2A"/>
                </a:solidFill>
              </a:defRPr>
            </a:pPr>
            <a:r>
              <a:rPr sz="975">
                <a:solidFill>
                  <a:srgbClr val="5A4A2A"/>
                </a:solidFill>
              </a:rPr>
              <a:t>spatial envelope</a:t>
            </a:r>
          </a:p>
        </p:txBody>
      </p:sp>
      <p:sp>
        <p:nvSpPr>
          <p:cNvPr id="57" name="decide-score">
            <a:extLst xmlns:a="http://schemas.openxmlformats.org/drawingml/2006/main">
              <a:ext uri="{FF2B5EF4-FFF2-40B4-BE49-F238E27FC236}">
                <a16:creationId xmlns:a16="http://schemas.microsoft.com/office/drawing/2014/main" id="{F57CD814-F43A-4AE8-8E02-41DDFD06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1717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D2E2E"/>
                </a:solidFill>
              </a:defRPr>
            </a:pPr>
            <a:r>
              <a:rPr sz="1200" b="1">
                <a:solidFill>
                  <a:srgbClr val="7D2E2E"/>
                </a:solidFill>
              </a:rPr>
              <a:t>separation + structure</a:t>
            </a:r>
          </a:p>
          <a:p xmlns:a="http://schemas.openxmlformats.org/drawingml/2006/main">
            <a:pPr algn="ctr">
              <a:defRPr sz="1200" b="1">
                <a:solidFill>
                  <a:srgbClr val="7D2E2E"/>
                </a:solidFill>
              </a:defRPr>
            </a:pPr>
            <a:r>
              <a:rPr sz="1200" b="1">
                <a:solidFill>
                  <a:srgbClr val="7D2E2E"/>
                </a:solidFill>
              </a:rPr>
              <a:t>boundary + consensus</a:t>
            </a:r>
          </a:p>
        </p:txBody>
      </p:sp>
      <p:sp>
        <p:nvSpPr>
          <p:cNvPr id="58" name="decision-rule-a">
            <a:extLst xmlns:a="http://schemas.openxmlformats.org/drawingml/2006/main">
              <a:ext uri="{FF2B5EF4-FFF2-40B4-BE49-F238E27FC236}">
                <a16:creationId xmlns:a16="http://schemas.microsoft.com/office/drawing/2014/main" id="{48173452-3FC1-4EA7-8384-A22D29BC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75272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C6C0"/>
            </a:solidFill>
            <a:prstDash val="solid"/>
          </a:ln>
        </p:spPr>
      </p:sp>
      <p:sp>
        <p:nvSpPr>
          <p:cNvPr id="59" name="decide-penalties">
            <a:extLst xmlns:a="http://schemas.openxmlformats.org/drawingml/2006/main">
              <a:ext uri="{FF2B5EF4-FFF2-40B4-BE49-F238E27FC236}">
                <a16:creationId xmlns:a16="http://schemas.microsoft.com/office/drawing/2014/main" id="{4C9B13E8-7450-4F2A-BD76-C4241252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886075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B3A3A"/>
                </a:solidFill>
              </a:defRPr>
            </a:pPr>
            <a:r>
              <a:rPr sz="1200">
                <a:solidFill>
                  <a:srgbClr val="5B3A3A"/>
                </a:solidFill>
              </a:rPr>
              <a:t>quality penalties</a:t>
            </a:r>
          </a:p>
          <a:p xmlns:a="http://schemas.openxmlformats.org/drawingml/2006/main">
            <a:pPr algn="ctr">
              <a:defRPr sz="1200">
                <a:solidFill>
                  <a:srgbClr val="5B3A3A"/>
                </a:solidFill>
              </a:defRPr>
            </a:pPr>
            <a:r>
              <a:rPr sz="1200">
                <a:solidFill>
                  <a:srgbClr val="5B3A3A"/>
                </a:solidFill>
              </a:rPr>
              <a:t>complement · margin</a:t>
            </a:r>
          </a:p>
          <a:p xmlns:a="http://schemas.openxmlformats.org/drawingml/2006/main">
            <a:pPr algn="ctr">
              <a:defRPr sz="1200">
                <a:solidFill>
                  <a:srgbClr val="5B3A3A"/>
                </a:solidFill>
              </a:defRPr>
            </a:pPr>
            <a:r>
              <a:rPr sz="1200">
                <a:solidFill>
                  <a:srgbClr val="5B3A3A"/>
                </a:solidFill>
              </a:rPr>
              <a:t>scale stability</a:t>
            </a:r>
          </a:p>
        </p:txBody>
      </p:sp>
      <p:sp>
        <p:nvSpPr>
          <p:cNvPr id="60" name="decision-rule-b">
            <a:extLst xmlns:a="http://schemas.openxmlformats.org/drawingml/2006/main">
              <a:ext uri="{FF2B5EF4-FFF2-40B4-BE49-F238E27FC236}">
                <a16:creationId xmlns:a16="http://schemas.microsoft.com/office/drawing/2014/main" id="{A3114A87-81EA-4E7E-9026-1887AF84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33775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C6C0"/>
            </a:solidFill>
            <a:prstDash val="solid"/>
          </a:ln>
        </p:spPr>
      </p:sp>
      <p:sp>
        <p:nvSpPr>
          <p:cNvPr id="61" name="status-dot-ok">
            <a:extLst xmlns:a="http://schemas.openxmlformats.org/drawingml/2006/main">
              <a:ext uri="{FF2B5EF4-FFF2-40B4-BE49-F238E27FC236}">
                <a16:creationId xmlns:a16="http://schemas.microsoft.com/office/drawing/2014/main" id="{BA7F82DA-A636-484E-BD1C-08DE5462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62" name="status-ok">
            <a:extLst xmlns:a="http://schemas.openxmlformats.org/drawingml/2006/main">
              <a:ext uri="{FF2B5EF4-FFF2-40B4-BE49-F238E27FC236}">
                <a16:creationId xmlns:a16="http://schemas.microsoft.com/office/drawing/2014/main" id="{99D555A5-89DC-45FE-BBE9-BA6FCE8A8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480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ok</a:t>
            </a:r>
          </a:p>
        </p:txBody>
      </p:sp>
      <p:sp>
        <p:nvSpPr>
          <p:cNvPr id="63" name="status-dot-uncertain">
            <a:extLst xmlns:a="http://schemas.openxmlformats.org/drawingml/2006/main">
              <a:ext uri="{FF2B5EF4-FFF2-40B4-BE49-F238E27FC236}">
                <a16:creationId xmlns:a16="http://schemas.microsoft.com/office/drawing/2014/main" id="{86C96A59-FAD6-4E6B-AD53-8B04E4E2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831C"/>
          </a:solidFill>
          <a:ln xmlns:a="http://schemas.openxmlformats.org/drawingml/2006/main" w="0">
            <a:solidFill>
              <a:srgbClr val="B8831C"/>
            </a:solidFill>
            <a:prstDash val="solid"/>
          </a:ln>
        </p:spPr>
      </p:sp>
      <p:sp>
        <p:nvSpPr>
          <p:cNvPr id="64" name="status-uncertain">
            <a:extLst xmlns:a="http://schemas.openxmlformats.org/drawingml/2006/main">
              <a:ext uri="{FF2B5EF4-FFF2-40B4-BE49-F238E27FC236}">
                <a16:creationId xmlns:a16="http://schemas.microsoft.com/office/drawing/2014/main" id="{D0BDB749-D226-44F1-9607-EFB54EEF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29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34E68"/>
                </a:solidFill>
              </a:defRPr>
            </a:pPr>
            <a:r>
              <a:rPr sz="1125" b="1">
                <a:solidFill>
                  <a:srgbClr val="334E68"/>
                </a:solidFill>
              </a:rPr>
              <a:t>uncertain</a:t>
            </a:r>
          </a:p>
        </p:txBody>
      </p:sp>
      <p:sp>
        <p:nvSpPr>
          <p:cNvPr id="65" name="status-dot-retry">
            <a:extLst xmlns:a="http://schemas.openxmlformats.org/drawingml/2006/main">
              <a:ext uri="{FF2B5EF4-FFF2-40B4-BE49-F238E27FC236}">
                <a16:creationId xmlns:a16="http://schemas.microsoft.com/office/drawing/2014/main" id="{1191F954-FD18-4B48-8DAD-B8DF8F3A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C4C"/>
          </a:solidFill>
          <a:ln xmlns:a="http://schemas.openxmlformats.org/drawingml/2006/main" w="0">
            <a:solidFill>
              <a:srgbClr val="C94C4C"/>
            </a:solidFill>
            <a:prstDash val="solid"/>
          </a:ln>
        </p:spPr>
      </p:sp>
      <p:sp>
        <p:nvSpPr>
          <p:cNvPr id="66" name="status-retry">
            <a:extLst xmlns:a="http://schemas.openxmlformats.org/drawingml/2006/main">
              <a:ext uri="{FF2B5EF4-FFF2-40B4-BE49-F238E27FC236}">
                <a16:creationId xmlns:a16="http://schemas.microsoft.com/office/drawing/2014/main" id="{6ECFD5C8-DF99-4901-A50F-CF4FE0FB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100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334E68"/>
                </a:solidFill>
              </a:defRPr>
            </a:pPr>
            <a:r>
              <a:rPr sz="1125" b="0">
                <a:solidFill>
                  <a:srgbClr val="334E68"/>
                </a:solidFill>
              </a:rPr>
              <a:t>retry</a:t>
            </a:r>
          </a:p>
        </p:txBody>
      </p:sp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a736d76414731"/>
          <a:srcRect xmlns:a="http://schemas.openxmlformats.org/drawingml/2006/main" l="0" t="19231" r="0" b="192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67950" y="2171700"/>
            <a:ext cx="1238250" cy="762000"/>
          </a:xfrm>
          <a:prstGeom xmlns:a="http://schemas.openxmlformats.org/drawingml/2006/main" prst="roundRect">
            <a:avLst>
              <a:gd name="adj" fmla="val 11250"/>
            </a:avLst>
          </a:prstGeom>
        </p:spPr>
      </p:pic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bad5390f04a58"/>
          <a:srcRect xmlns:a="http://schemas.openxmlformats.org/drawingml/2006/main" l="0" t="19231" r="0" b="192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67950" y="3028950"/>
            <a:ext cx="1238250" cy="762000"/>
          </a:xfrm>
          <a:prstGeom xmlns:a="http://schemas.openxmlformats.org/drawingml/2006/main" prst="roundRect">
            <a:avLst>
              <a:gd name="adj" fmla="val 11250"/>
            </a:avLst>
          </a:prstGeom>
        </p:spPr>
      </p:pic>
      <p:sp>
        <p:nvSpPr>
          <p:cNvPr id="69" name="explain-label">
            <a:extLst xmlns:a="http://schemas.openxmlformats.org/drawingml/2006/main">
              <a:ext uri="{FF2B5EF4-FFF2-40B4-BE49-F238E27FC236}">
                <a16:creationId xmlns:a16="http://schemas.microsoft.com/office/drawing/2014/main" id="{7B5AFA4B-7527-48B2-994F-C647F516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8481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>
                <a:solidFill>
                  <a:srgbClr val="4B3F69"/>
                </a:solidFill>
              </a:defRPr>
            </a:pPr>
            <a:r>
              <a:rPr sz="938">
                <a:solidFill>
                  <a:srgbClr val="4B3F69"/>
                </a:solidFill>
              </a:rPr>
              <a:t>mask · structure</a:t>
            </a:r>
          </a:p>
          <a:p xmlns:a="http://schemas.openxmlformats.org/drawingml/2006/main">
            <a:pPr algn="ctr">
              <a:defRPr sz="938">
                <a:solidFill>
                  <a:srgbClr val="4B3F69"/>
                </a:solidFill>
              </a:defRPr>
            </a:pPr>
            <a:r>
              <a:rPr sz="938">
                <a:solidFill>
                  <a:srgbClr val="4B3F69"/>
                </a:solidFill>
              </a:rPr>
              <a:t>evidence · overlay</a:t>
            </a:r>
          </a:p>
          <a:p xmlns:a="http://schemas.openxmlformats.org/drawingml/2006/main">
            <a:pPr algn="ctr">
              <a:defRPr sz="938">
                <a:solidFill>
                  <a:srgbClr val="4B3F69"/>
                </a:solidFill>
              </a:defRPr>
            </a:pPr>
            <a:r>
              <a:rPr sz="938">
                <a:solidFill>
                  <a:srgbClr val="4B3F69"/>
                </a:solidFill>
              </a:rPr>
              <a:t>quality · provenance</a:t>
            </a:r>
          </a:p>
          <a:p xmlns:a="http://schemas.openxmlformats.org/drawingml/2006/main">
            <a:pPr algn="ctr">
              <a:defRPr sz="938">
                <a:solidFill>
                  <a:srgbClr val="4B3F69"/>
                </a:solidFill>
              </a:defRPr>
            </a:pPr>
            <a:r>
              <a:rPr sz="938">
                <a:solidFill>
                  <a:srgbClr val="4B3F69"/>
                </a:solidFill>
              </a:rPr>
              <a:t>schema 0.5 · digits</a:t>
            </a:r>
          </a:p>
        </p:txBody>
      </p:sp>
      <p:sp>
        <p:nvSpPr>
          <p:cNvPr id="70" name="validation-eyebrow">
            <a:extLst xmlns:a="http://schemas.openxmlformats.org/drawingml/2006/main">
              <a:ext uri="{FF2B5EF4-FFF2-40B4-BE49-F238E27FC236}">
                <a16:creationId xmlns:a16="http://schemas.microsoft.com/office/drawing/2014/main" id="{E53E860D-CB4F-428A-B202-F7ED00BD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486581"/>
                </a:solidFill>
              </a:defRPr>
            </a:pPr>
            <a:r>
              <a:rPr sz="900" b="1" spc="1">
                <a:solidFill>
                  <a:srgbClr val="486581"/>
                </a:solidFill>
              </a:rPr>
              <a:t>CONTINUOUS RED / BLUE VALIDATION</a:t>
            </a:r>
          </a:p>
        </p:txBody>
      </p:sp>
      <p:sp>
        <p:nvSpPr>
          <p:cNvPr id="71" name="validation-claim">
            <a:extLst xmlns:a="http://schemas.openxmlformats.org/drawingml/2006/main">
              <a:ext uri="{FF2B5EF4-FFF2-40B4-BE49-F238E27FC236}">
                <a16:creationId xmlns:a16="http://schemas.microsoft.com/office/drawing/2014/main" id="{097BDB7D-8EDB-4646-A4C7-7EEFD243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Every new capability ships with evidence that can fail it.</a:t>
            </a:r>
          </a:p>
        </p:txBody>
      </p:sp>
      <p:sp>
        <p:nvSpPr>
          <p:cNvPr id="72" name="blue-team">
            <a:extLst xmlns:a="http://schemas.openxmlformats.org/drawingml/2006/main">
              <a:ext uri="{FF2B5EF4-FFF2-40B4-BE49-F238E27FC236}">
                <a16:creationId xmlns:a16="http://schemas.microsoft.com/office/drawing/2014/main" id="{2FA39E5B-ED88-4E2A-BB8F-27B0FCAB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2857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11906">
            <a:solidFill>
              <a:srgbClr val="B8CAE2"/>
            </a:solidFill>
            <a:prstDash val="solid"/>
          </a:ln>
        </p:spPr>
      </p:sp>
      <p:sp>
        <p:nvSpPr>
          <p:cNvPr id="73" name="validation-gates">
            <a:extLst xmlns:a="http://schemas.openxmlformats.org/drawingml/2006/main">
              <a:ext uri="{FF2B5EF4-FFF2-40B4-BE49-F238E27FC236}">
                <a16:creationId xmlns:a16="http://schemas.microsoft.com/office/drawing/2014/main" id="{CB8A6B78-3BDD-4B93-9284-6CD2B2FC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67350"/>
            <a:ext cx="48577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1F4F7"/>
          </a:solidFill>
          <a:ln xmlns:a="http://schemas.openxmlformats.org/drawingml/2006/main" w="11906">
            <a:solidFill>
              <a:srgbClr val="CBD5E1"/>
            </a:solidFill>
            <a:prstDash val="solid"/>
          </a:ln>
        </p:spPr>
      </p:sp>
      <p:sp>
        <p:nvSpPr>
          <p:cNvPr id="74" name="red-team">
            <a:extLst xmlns:a="http://schemas.openxmlformats.org/drawingml/2006/main">
              <a:ext uri="{FF2B5EF4-FFF2-40B4-BE49-F238E27FC236}">
                <a16:creationId xmlns:a16="http://schemas.microsoft.com/office/drawing/2014/main" id="{8E3BE280-C2E3-4A2B-8A81-2B2DB0E6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67350"/>
            <a:ext cx="29146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9E8E5"/>
          </a:solidFill>
          <a:ln xmlns:a="http://schemas.openxmlformats.org/drawingml/2006/main" w="11906">
            <a:solidFill>
              <a:srgbClr val="E4B8B0"/>
            </a:solidFill>
            <a:prstDash val="solid"/>
          </a:ln>
        </p:spPr>
      </p:sp>
      <p:cxnSp>
        <p:nvCxnSpPr>
          <p:cNvPr id="161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3390900" y="5876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29AB1"/>
            </a:solidFill>
            <a:prstDash val="solid"/>
            <a:tailEnd type="triangle" w="sm" len="sm"/>
          </a:ln>
        </p:spPr>
      </p:cxnSp>
      <p:cxnSp>
        <p:nvCxnSpPr>
          <p:cNvPr id="162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8496300" y="587692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29AB1"/>
            </a:solidFill>
            <a:prstDash val="solid"/>
            <a:tailEnd type="triangle" w="sm" len="sm"/>
          </a:ln>
        </p:spPr>
      </p:cxnSp>
      <p:sp>
        <p:nvSpPr>
          <p:cNvPr id="77" name="blue-title">
            <a:extLst xmlns:a="http://schemas.openxmlformats.org/drawingml/2006/main">
              <a:ext uri="{FF2B5EF4-FFF2-40B4-BE49-F238E27FC236}">
                <a16:creationId xmlns:a16="http://schemas.microsoft.com/office/drawing/2014/main" id="{1432EAC8-1D15-43A4-8608-8A241ABA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2514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45995"/>
                </a:solidFill>
              </a:defRPr>
            </a:pPr>
            <a:r>
              <a:rPr sz="1050" b="1">
                <a:solidFill>
                  <a:srgbClr val="345995"/>
                </a:solidFill>
              </a:rPr>
              <a:t>BLUE TEAM · make signal real</a:t>
            </a:r>
          </a:p>
        </p:txBody>
      </p:sp>
      <p:sp>
        <p:nvSpPr>
          <p:cNvPr id="78" name="blue-body">
            <a:extLst xmlns:a="http://schemas.openxmlformats.org/drawingml/2006/main">
              <a:ext uri="{FF2B5EF4-FFF2-40B4-BE49-F238E27FC236}">
                <a16:creationId xmlns:a16="http://schemas.microsoft.com/office/drawing/2014/main" id="{EFB2BF84-F8DF-4B60-9E94-99FB8037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9775"/>
            <a:ext cx="251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34E68"/>
                </a:solidFill>
              </a:defRPr>
            </a:pPr>
            <a:r>
              <a:rPr sz="1050">
                <a:solidFill>
                  <a:srgbClr val="334E68"/>
                </a:solidFill>
              </a:rPr>
              <a:t>generated positives · matched negatives</a:t>
            </a:r>
          </a:p>
          <a:p xmlns:a="http://schemas.openxmlformats.org/drawingml/2006/main">
            <a:pPr>
              <a:defRPr sz="1050">
                <a:solidFill>
                  <a:srgbClr val="334E68"/>
                </a:solidFill>
              </a:defRPr>
            </a:pPr>
            <a:r>
              <a:rPr sz="1050">
                <a:solidFill>
                  <a:srgbClr val="334E68"/>
                </a:solidFill>
              </a:rPr>
              <a:t>licensed geometry · held-out captures</a:t>
            </a:r>
          </a:p>
        </p:txBody>
      </p:sp>
      <p:sp>
        <p:nvSpPr>
          <p:cNvPr id="79" name="gates-title">
            <a:extLst xmlns:a="http://schemas.openxmlformats.org/drawingml/2006/main">
              <a:ext uri="{FF2B5EF4-FFF2-40B4-BE49-F238E27FC236}">
                <a16:creationId xmlns:a16="http://schemas.microsoft.com/office/drawing/2014/main" id="{6ABD72E5-105C-49A5-911E-81B2F3BF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81650"/>
            <a:ext cx="443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86581"/>
                </a:solidFill>
              </a:defRPr>
            </a:pPr>
            <a:r>
              <a:rPr sz="1050" b="1">
                <a:solidFill>
                  <a:srgbClr val="486581"/>
                </a:solidFill>
              </a:rPr>
              <a:t>GATES · prove invariance, not one lucky fixture</a:t>
            </a:r>
          </a:p>
        </p:txBody>
      </p:sp>
      <p:sp>
        <p:nvSpPr>
          <p:cNvPr id="80" name="gates-body">
            <a:extLst xmlns:a="http://schemas.openxmlformats.org/drawingml/2006/main">
              <a:ext uri="{FF2B5EF4-FFF2-40B4-BE49-F238E27FC236}">
                <a16:creationId xmlns:a16="http://schemas.microsoft.com/office/drawing/2014/main" id="{4D70B5C5-78DD-4A9D-9FB2-0EBF00CD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829300"/>
            <a:ext cx="4438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334E68"/>
                </a:solidFill>
              </a:defRPr>
            </a:pPr>
            <a:r>
              <a:rPr sz="1050">
                <a:solidFill>
                  <a:srgbClr val="334E68"/>
                </a:solidFill>
              </a:rPr>
              <a:t>top-k IoU · hard negatives · scale/rotation metamorphics</a:t>
            </a:r>
          </a:p>
          <a:p xmlns:a="http://schemas.openxmlformats.org/drawingml/2006/main">
            <a:pPr algn="ctr">
              <a:defRPr sz="1050">
                <a:solidFill>
                  <a:srgbClr val="334E68"/>
                </a:solidFill>
              </a:defRPr>
            </a:pPr>
            <a:r>
              <a:rPr sz="1050">
                <a:solidFill>
                  <a:srgbClr val="334E68"/>
                </a:solidFill>
              </a:rPr>
              <a:t>confidence contract · memory/security</a:t>
            </a:r>
          </a:p>
        </p:txBody>
      </p:sp>
      <p:sp>
        <p:nvSpPr>
          <p:cNvPr id="81" name="red-title">
            <a:extLst xmlns:a="http://schemas.openxmlformats.org/drawingml/2006/main">
              <a:ext uri="{FF2B5EF4-FFF2-40B4-BE49-F238E27FC236}">
                <a16:creationId xmlns:a16="http://schemas.microsoft.com/office/drawing/2014/main" id="{143A74F1-B1C7-4B61-A5B1-089A04A6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5816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94C4C"/>
                </a:solidFill>
              </a:defRPr>
            </a:pPr>
            <a:r>
              <a:rPr sz="1050" b="1">
                <a:solidFill>
                  <a:srgbClr val="C94C4C"/>
                </a:solidFill>
              </a:rPr>
              <a:t>RED TEAM · break shortcuts</a:t>
            </a:r>
          </a:p>
        </p:txBody>
      </p:sp>
      <p:sp>
        <p:nvSpPr>
          <p:cNvPr id="82" name="red-body">
            <a:extLst xmlns:a="http://schemas.openxmlformats.org/drawingml/2006/main">
              <a:ext uri="{FF2B5EF4-FFF2-40B4-BE49-F238E27FC236}">
                <a16:creationId xmlns:a16="http://schemas.microsoft.com/office/drawing/2014/main" id="{1556F531-37A7-4047-BDAB-5AACB5C0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8197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5B3A3A"/>
                </a:solidFill>
              </a:defRPr>
            </a:pPr>
            <a:r>
              <a:rPr sz="1013">
                <a:solidFill>
                  <a:srgbClr val="5B3A3A"/>
                </a:solidFill>
              </a:rPr>
              <a:t>complements · glare · moiré · blur</a:t>
            </a:r>
          </a:p>
          <a:p xmlns:a="http://schemas.openxmlformats.org/drawingml/2006/main">
            <a:pPr>
              <a:defRPr sz="1013">
                <a:solidFill>
                  <a:srgbClr val="5B3A3A"/>
                </a:solidFill>
              </a:defRPr>
            </a:pPr>
            <a:r>
              <a:rPr sz="1013">
                <a:solidFill>
                  <a:srgbClr val="5B3A3A"/>
                </a:solidFill>
              </a:rPr>
              <a:t>ordinary photos · scale flips · resource limits</a:t>
            </a:r>
          </a:p>
        </p:txBody>
      </p:sp>
      <p:cxnSp>
        <p:nvCxnSpPr>
          <p:cNvPr id="169" name=""/>
          <p:cNvCxnSpPr>
            <a:stCxn xmlns:a="http://schemas.openxmlformats.org/drawingml/2006/main" id="74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6353175" y="4362450"/>
            <a:ext cx="3848100" cy="11049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669">
            <a:solidFill>
              <a:srgbClr val="C94C4C"/>
            </a:solidFill>
            <a:prstDash val="dash"/>
            <a:tailEnd type="triangle" w="sm" len="sm"/>
          </a:ln>
        </p:spPr>
      </p:cxnSp>
      <p:sp>
        <p:nvSpPr>
          <p:cNvPr id="84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2718A8E1-F593-4231-83BD-1384D9EF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48250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23D3D"/>
                </a:solidFill>
              </a:defRPr>
            </a:pPr>
            <a:r>
              <a:rPr sz="900" b="1">
                <a:solidFill>
                  <a:srgbClr val="A23D3D"/>
                </a:solidFill>
              </a:rPr>
              <a:t>failure ledger → new hypothesis or stricter abstention</a:t>
            </a:r>
          </a:p>
        </p:txBody>
      </p:sp>
      <p:sp>
        <p:nvSpPr>
          <p:cNvPr id="85" name="footer">
            <a:extLst xmlns:a="http://schemas.openxmlformats.org/drawingml/2006/main">
              <a:ext uri="{FF2B5EF4-FFF2-40B4-BE49-F238E27FC236}">
                <a16:creationId xmlns:a16="http://schemas.microsoft.com/office/drawing/2014/main" id="{B17A733F-D176-4998-9461-2FBD3F4B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A9D8F"/>
                </a:solidFill>
              </a:defRPr>
            </a:pPr>
            <a:r>
              <a:rPr sz="900" b="1">
                <a:solidFill>
                  <a:srgbClr val="2A9D8F"/>
                </a:solidFill>
              </a:rPr>
              <a:t>No hallucinated pixels. Missing evidence stays missing.</a:t>
            </a:r>
          </a:p>
        </p:txBody>
      </p:sp>
      <p:sp>
        <p:nvSpPr>
          <p:cNvPr id="8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851CD107-9EDD-4FA9-B896-31961099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6496050"/>
            <a:ext cx="39719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63">
                <a:solidFill>
                  <a:srgbClr val="829AB1"/>
                </a:solidFill>
              </a:defRPr>
            </a:pPr>
            <a:r>
              <a:rPr sz="863">
                <a:solidFill>
                  <a:srgbClr val="829AB1"/>
                </a:solidFill>
              </a:rPr>
              <a:t>ChromaRecover 0.3.0a4 · experimental public alpha</a:t>
            </a:r>
          </a:p>
        </p:txBody>
      </p:sp>
    </p:spTree>
    <p:extLst>
      <p:ext uri="{BB962C8B-B14F-4D97-AF65-F5344CB8AC3E}">
        <p14:creationId xmlns:p14="http://schemas.microsoft.com/office/powerpoint/2010/main" val="592281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2026-08-28T18:42:12.7710000Z</dcterms:created>
  <dcterms:modified xsi:type="dcterms:W3CDTF">2026-08-28T18:42:12.7710000Z</dcterms:modified>
</coreProperties>
</file>